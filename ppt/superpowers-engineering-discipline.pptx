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83e5d9a3b14ad6" /><Relationship Type="http://schemas.openxmlformats.org/officeDocument/2006/relationships/extended-properties" Target="/docProps/app.xml" Id="R1eb0e7e3ec2d4afa" /><Relationship Type="http://schemas.openxmlformats.org/officeDocument/2006/relationships/officeDocument" Target="/ppt/presentation.xml" Id="R1d7851a9b1e54d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bab79ac6f44441"/>
  </p:sldMasterIdLst>
  <p:notesMasterIdLst>
    <p:notesMasterId xmlns:r="http://schemas.openxmlformats.org/officeDocument/2006/relationships" r:id="Re8ba54b0a7a648f7"/>
  </p:notesMasterIdLst>
  <p:sldIdLst>
    <p:sldId xmlns:r="http://schemas.openxmlformats.org/officeDocument/2006/relationships" id="256" r:id="Rada802d769ab4b05"/>
    <p:sldId xmlns:r="http://schemas.openxmlformats.org/officeDocument/2006/relationships" id="257" r:id="R4af25196ccf74f25"/>
    <p:sldId xmlns:r="http://schemas.openxmlformats.org/officeDocument/2006/relationships" id="258" r:id="R668c28faf74842aa"/>
    <p:sldId xmlns:r="http://schemas.openxmlformats.org/officeDocument/2006/relationships" id="259" r:id="Rd88748498b9b4b81"/>
    <p:sldId xmlns:r="http://schemas.openxmlformats.org/officeDocument/2006/relationships" id="260" r:id="R2f77341390ca445e"/>
    <p:sldId xmlns:r="http://schemas.openxmlformats.org/officeDocument/2006/relationships" id="261" r:id="Rf87d0d41bc3a4d03"/>
    <p:sldId xmlns:r="http://schemas.openxmlformats.org/officeDocument/2006/relationships" id="262" r:id="R9eca5708acbe4b52"/>
    <p:sldId xmlns:r="http://schemas.openxmlformats.org/officeDocument/2006/relationships" id="263" r:id="R7586db162b684939"/>
    <p:sldId xmlns:r="http://schemas.openxmlformats.org/officeDocument/2006/relationships" id="264" r:id="Rfb12bc1250a14038"/>
    <p:sldId xmlns:r="http://schemas.openxmlformats.org/officeDocument/2006/relationships" id="265" r:id="R5ab1108537434c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1dacb016f8445e" /><Relationship Type="http://schemas.openxmlformats.org/officeDocument/2006/relationships/slideMaster" Target="/ppt/slideMasters/slideMaster1.xml" Id="R42bab79ac6f44441" /><Relationship Type="http://schemas.openxmlformats.org/officeDocument/2006/relationships/notesMaster" Target="/ppt/notesMasters/notesMaster1.xml" Id="Re8ba54b0a7a648f7" /><Relationship Type="http://schemas.openxmlformats.org/officeDocument/2006/relationships/presProps" Target="/ppt/presProps.xml" Id="R3befa59f5264498c" /><Relationship Type="http://schemas.openxmlformats.org/officeDocument/2006/relationships/tableStyles" Target="/ppt/tableStyles.xml" Id="R2d889b3eab574493" /><Relationship Type="http://schemas.openxmlformats.org/officeDocument/2006/relationships/slide" Target="/ppt/slides/slide1.xml" Id="Rada802d769ab4b05" /><Relationship Type="http://schemas.openxmlformats.org/officeDocument/2006/relationships/slide" Target="/ppt/slides/slide2.xml" Id="R4af25196ccf74f25" /><Relationship Type="http://schemas.openxmlformats.org/officeDocument/2006/relationships/slide" Target="/ppt/slides/slide3.xml" Id="R668c28faf74842aa" /><Relationship Type="http://schemas.openxmlformats.org/officeDocument/2006/relationships/slide" Target="/ppt/slides/slide4.xml" Id="Rd88748498b9b4b81" /><Relationship Type="http://schemas.openxmlformats.org/officeDocument/2006/relationships/slide" Target="/ppt/slides/slide5.xml" Id="R2f77341390ca445e" /><Relationship Type="http://schemas.openxmlformats.org/officeDocument/2006/relationships/slide" Target="/ppt/slides/slide6.xml" Id="Rf87d0d41bc3a4d03" /><Relationship Type="http://schemas.openxmlformats.org/officeDocument/2006/relationships/slide" Target="/ppt/slides/slide7.xml" Id="R9eca5708acbe4b52" /><Relationship Type="http://schemas.openxmlformats.org/officeDocument/2006/relationships/slide" Target="/ppt/slides/slide8.xml" Id="R7586db162b684939" /><Relationship Type="http://schemas.openxmlformats.org/officeDocument/2006/relationships/slide" Target="/ppt/slides/slide9.xml" Id="Rfb12bc1250a14038" /><Relationship Type="http://schemas.openxmlformats.org/officeDocument/2006/relationships/slide" Target="/ppt/slides/slide10.xml" Id="R5ab1108537434c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0b09c612d84f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16e4f20be34ec5" /><Relationship Type="http://schemas.openxmlformats.org/officeDocument/2006/relationships/notesMaster" Target="/ppt/notesMasters/notesMaster1.xml" Id="Rb6603b1b208e41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843a4e3311418e" /><Relationship Type="http://schemas.openxmlformats.org/officeDocument/2006/relationships/notesMaster" Target="/ppt/notesMasters/notesMaster1.xml" Id="R22839fc5ce3549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90a12537f945ca" /><Relationship Type="http://schemas.openxmlformats.org/officeDocument/2006/relationships/notesMaster" Target="/ppt/notesMasters/notesMaster1.xml" Id="Rd0555b962a1643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4687747d1e4006" /><Relationship Type="http://schemas.openxmlformats.org/officeDocument/2006/relationships/notesMaster" Target="/ppt/notesMasters/notesMaster1.xml" Id="R9e3c1b3802944e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661909866f4cd3" /><Relationship Type="http://schemas.openxmlformats.org/officeDocument/2006/relationships/notesMaster" Target="/ppt/notesMasters/notesMaster1.xml" Id="R7bd5fe386a7e4e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fdefa9d9024bc4" /><Relationship Type="http://schemas.openxmlformats.org/officeDocument/2006/relationships/notesMaster" Target="/ppt/notesMasters/notesMaster1.xml" Id="R3687c2d6e8944f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a08e5b640648d0" /><Relationship Type="http://schemas.openxmlformats.org/officeDocument/2006/relationships/notesMaster" Target="/ppt/notesMasters/notesMaster1.xml" Id="Ra1ae2f4fb81347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ac3b8826e44c22" /><Relationship Type="http://schemas.openxmlformats.org/officeDocument/2006/relationships/notesMaster" Target="/ppt/notesMasters/notesMaster1.xml" Id="Rc2e8d798b1bd42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bfe07c91a04a47" /><Relationship Type="http://schemas.openxmlformats.org/officeDocument/2006/relationships/notesMaster" Target="/ppt/notesMasters/notesMaster1.xml" Id="Ra422578c5cb046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9c419d0eb644d6" /><Relationship Type="http://schemas.openxmlformats.org/officeDocument/2006/relationships/notesMaster" Target="/ppt/notesMasters/notesMaster1.xml" Id="R7232b76d663540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大家好，今天我想和大家聊聊 AI 编程。很多人觉得 AI 写代码快，但往往“快而不稳”。Superpowers 的核心，不是让 AI 更会炫技，而是用约束驯服它，让它从业余玩具变成企业级生产力工具。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直接用 AI 写代码，就像在开盲盒。它可能前九次都很顺，第十次却留下致命漏洞。这种不确定性，是软件工程最难接受的东西。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Superpowers 的核心思想不是提升模型基础能力，而是限制它的胡思乱想。规范，是对抗大模型随机性和幻觉最可靠的武器。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这四个支柱构成 Superpowers 的底层闭环。它确保 AI 动手前有思考，编码时有保护，结束时会收拾现场。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传统 AI 开发像裸奔，Superpowers 让 AI 像成熟工程师一样工作。它不保证每一步都更快，但能显著降低不可控风险。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真实修 Bug 场景里，不用框架时 AI 容易在代码库里横冲直撞。Superpowers 强制走 TDD 流程：先复现，再定位，再修复，最后回归，整个过程有理有据。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Superpowers 内部把一次开发拆成四个阶段。这很像正规软件公司的部门流转：产品确认需求、架构师设计、开发实现、测试把关，而现在这些角色由 AI 分身执行。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很多人刚用 Superpowers 会觉得变慢了：还要看计划、写测试。但软件工程的真理是，前期多花十分钟厘清需求，可能省掉后期两天线上救火。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天下没有完美工具。对于极小改动，可以适当裁剪流程；但在复杂、高风险的重构和核心功能开发中，必须严格咬住这套流程。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最后用一句话总结：不要再让你的 AI 裸奔了。只有当 AI 学会遵守工程纪律，它才真正能成为和我们并肩作战的高级研发伙伴。谢谢大家！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a54154df149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63a89a98fb49cc" /><Relationship Type="http://schemas.openxmlformats.org/officeDocument/2006/relationships/slideLayout" Target="/ppt/slideLayouts/slideLayout1.xml" Id="R99eca012693a41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eca012693a41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113a8c7bb4f93" /><Relationship Type="http://schemas.openxmlformats.org/officeDocument/2006/relationships/notesSlide" Target="/ppt/notesSlides/notesSlide1.xml" Id="R5eeb81f5a34e46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c9456813f4b5c" /><Relationship Type="http://schemas.openxmlformats.org/officeDocument/2006/relationships/notesSlide" Target="/ppt/notesSlides/notesSlide2.xml" Id="Rbcf5333d186843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cc8182ea14fde" /><Relationship Type="http://schemas.openxmlformats.org/officeDocument/2006/relationships/notesSlide" Target="/ppt/notesSlides/notesSlide3.xml" Id="Re390bcf21a7b49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671f525814b59" /><Relationship Type="http://schemas.openxmlformats.org/officeDocument/2006/relationships/notesSlide" Target="/ppt/notesSlides/notesSlide4.xml" Id="R4c5916e098f84f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72989e48042af" /><Relationship Type="http://schemas.openxmlformats.org/officeDocument/2006/relationships/notesSlide" Target="/ppt/notesSlides/notesSlide5.xml" Id="Rfa25b72d3cf9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a410acbda4952" /><Relationship Type="http://schemas.openxmlformats.org/officeDocument/2006/relationships/notesSlide" Target="/ppt/notesSlides/notesSlide6.xml" Id="Ra11b19b32f9448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6c396904748d7" /><Relationship Type="http://schemas.openxmlformats.org/officeDocument/2006/relationships/notesSlide" Target="/ppt/notesSlides/notesSlide7.xml" Id="R706efb0e97044b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5e03bf2dd4664" /><Relationship Type="http://schemas.openxmlformats.org/officeDocument/2006/relationships/notesSlide" Target="/ppt/notesSlides/notesSlide8.xml" Id="R5ac01a7e21c54e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39cf290354e70" /><Relationship Type="http://schemas.openxmlformats.org/officeDocument/2006/relationships/notesSlide" Target="/ppt/notesSlides/notesSlide9.xml" Id="R301d337a5c2340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ccc56ec8e4184" /><Relationship Type="http://schemas.openxmlformats.org/officeDocument/2006/relationships/notesSlide" Target="/ppt/notesSlides/notesSlide10.xml" Id="Ra6a1cbbf709d423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837939-6BEE-4720-B809-61434153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C25CA-B455-4A97-9FC0-B22A35D1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22068-1B68-44A4-BAB2-3DA47809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DC3A3-918E-4593-95FF-36098B92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32E0A-99DC-4E40-8898-D21D9E0F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3D736-BF94-40AD-AB92-309207F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DF8D6-C218-409D-BA8D-E8012515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6E5F1-1E49-490A-9C73-D303849F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08CEC-A1C7-499C-A4D4-C2C718AD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678A2-B7EE-4AAD-A58C-EA38CA59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2B6FA-DAD4-4EBB-9418-76868212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A01CC-973D-42AF-AF88-565C46D5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9875E-886E-4B45-979A-2FC4B65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DA698-DD60-4C4E-B261-A4D6C3B2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82EFC-1F51-4E46-856E-B7B3E17E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F55E1-08FB-4E68-97BF-EB6FA122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4BFDC-AF97-4455-94A2-0FC8C099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A3C46-8D07-4D86-8E51-A2E6A3DC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CC9D4-BC8B-4BE3-9678-E2CBBA49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A2E9F-00E5-48F7-8CE3-E9CDC8E5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45039-6326-4259-A67E-16489B1A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72E6A-3FFC-43BD-A066-87E4668B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647FD-C261-4574-B1DE-60A26FAB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99AC3-C1DC-4F7B-89D7-F8DC7F86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0E949-D062-4A56-8B1D-0BFD3EA7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6953250" y="18478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B4FF">
                <a:alpha val="1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EB40E1-B0EE-42B5-B4F8-741347E5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277100" y="20764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F2A2">
                <a:alpha val="18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32AA5F-0011-4375-8C1E-2BAC7750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600950" y="23050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B4FF">
                <a:alpha val="1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17A33-9DDD-4D78-83FD-B0A4CA98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924800" y="25336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F2A2">
                <a:alpha val="18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520266-D147-4F0F-9F01-568B15D2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8248650" y="27622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B4FF">
                <a:alpha val="1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2CB30-F798-48B2-A98A-BABDCAD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8572500" y="29908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F2A2">
                <a:alpha val="18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A949D8-89F1-40EF-8C87-9FC32471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8896350" y="32194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B4FF">
                <a:alpha val="1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873CAC-11BD-4700-9315-C1D49BB5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AI ENGINEERING DISCIPLINE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BD4378-98ED-4F6F-8A86-8E935FFD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6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6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约束的艺术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DB4677-E6DF-4B5B-A760-80D55DB2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Superpowers 如何让 AI 代理走向工程严谨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A32988-086E-425E-A0DD-76EBE721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基于底层思想、流程颠覆与研发 ROI 沉淀的使用心得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1B5B0C-D1E3-48A0-8F6B-97F1690F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701D61-65FE-4073-A2CB-C182D72B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AI Agent × Engineering Workflow</a:t>
            </a:r>
          </a:p>
        </p:txBody>
      </p:sp>
    </p:spTree>
    <p:extLst>
      <p:ext uri="{BB962C8B-B14F-4D97-AF65-F5344CB8AC3E}">
        <p14:creationId xmlns:p14="http://schemas.microsoft.com/office/powerpoint/2010/main" val="374526900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19BE8-9ECC-4670-BD61-C3EDC02F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C73E3-8409-4C20-B6CB-F3ACB31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5F766-594A-4750-AFB8-70712D42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BB419-7E19-42F0-9D50-76AD1E91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382A9-0D60-4C70-8FA9-A14BD5EB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5FC5D-3CA1-44F1-8D4C-9426169F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C0C45-4568-485F-9639-1C3A4D95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CA606-766B-4D18-801C-B7F02333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EDA37-C974-4865-81D1-DFF0EBEC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026E8-0D4F-4401-B902-9A30EFC5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90C0E-1883-4E24-85C0-B9A56D6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D5AB9-3BAB-4D4E-9A68-CE135683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5DEC9-BAAE-4494-9897-C0BC29C0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5FC7F-9B56-48C7-A414-85C007BC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D7823-E82F-45C8-B1B5-3697EA37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2B6F8-72C4-4F8F-88B2-C338A09D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7537C-3AA2-47BA-B466-F43F6F27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277E5-7B13-418F-8CD4-1DBA34D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EAEB6-EDB5-4D4C-B6C3-352288A8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FCEF4-FF17-4381-9B15-173664E8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EF673-02C0-4543-AF9F-5261E782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C20F0-1F7D-4E15-BC79-150DEC14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206E9-6BA3-4BF5-97C8-583948EA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3BC8D0-A440-42FE-B25B-38BA4A3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564B29-0D2D-415A-A114-60A6346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THE PAIN 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7FEC4C-3B0A-41AC-977D-23F4705F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裸用 AI 写代码，本质上是在开盲盒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E592F-AAFB-415D-8435-0F2846F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748B7-60DA-42A7-B908-F7E3EB96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210050" cy="3181350"/>
          </a:xfrm>
          <a:prstGeom xmlns:a="http://schemas.openxmlformats.org/drawingml/2006/main" prst="roundRect">
            <a:avLst>
              <a:gd name="adj" fmla="val 7784"/>
            </a:avLst>
          </a:prstGeom>
          <a:gradFill xmlns:a="http://schemas.openxmlformats.org/drawingml/2006/main">
            <a:gsLst>
              <a:gs pos="0">
                <a:srgbClr val="230A10"/>
              </a:gs>
              <a:gs pos="100000">
                <a:srgbClr val="17070B"/>
              </a:gs>
            </a:gsLst>
            <a:lin ang="8100000"/>
          </a:gradFill>
          <a:ln xmlns:a="http://schemas.openxmlformats.org/drawingml/2006/main" w="9525">
            <a:solidFill>
              <a:srgbClr val="FF4D5E">
                <a:alpha val="5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FFDAD-A914-40C5-BAF1-5154C30D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666750" cy="-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926CB-01AD-4B4C-B783-DFD98F7A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66675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9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4E75E-8A1C-4F4E-85A2-66AFB7E7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67125"/>
            <a:ext cx="762000" cy="-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F89F83-944B-4E06-8889-66D1D425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85725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9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3D3753-05FF-4DA3-8E74-003E1B2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647700" cy="-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A66BA0-C620-42D2-8629-41B33FFD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76625"/>
            <a:ext cx="-335280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9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4A99E2-A6C3-41E9-9E55-AA7B9447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72000"/>
            <a:ext cx="857250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5A4FB9-B4FC-4594-AA4F-F9D1C889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95750"/>
            <a:ext cx="68580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9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B8A833-7411-4B04-B0BC-9047DD40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95850"/>
            <a:ext cx="857250" cy="-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13A237-EEDA-482B-9CE3-25CA9F10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76750"/>
            <a:ext cx="7429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9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9AE5A2-2E44-466E-8BA8-49F87C17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766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质量失控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4A81D3-7391-4D38-900C-CEC1E31A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47900"/>
            <a:ext cx="5334000" cy="8382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C37885-CAF3-4EAE-8981-E74225ED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955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97F006-8527-4E1E-8C3B-4E5E8995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冲动型编码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3DEA13-C61C-457F-A3DE-7D3D75F1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76550"/>
            <a:ext cx="46482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还没读懂上下文，就直接动手改。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97203B-731A-4F35-ACB4-78CAAF51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3750"/>
            <a:ext cx="5334000" cy="8382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188931-ACC6-484F-9019-0B04329E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207CB0-D63B-4F8B-A52F-A778ABB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打地鼠式修复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1A0DE3-8306-4E23-9501-A589E0D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62400"/>
            <a:ext cx="46482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A Bug 修好，B/C/D Bug 悄悄冒出来。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8665E5-B357-4610-B867-109E2BB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19600"/>
            <a:ext cx="5334000" cy="8382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BD734D-B883-4A9D-A17F-17534C63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672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1B3D70-C88C-40D5-AF31-684AAD10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482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猜测式交付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74F57F-80E4-4BD4-935F-2CA4DC36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48250"/>
            <a:ext cx="46482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一句“改好了”，剩下全靠人肉 Review。</a:t>
            </a:r>
          </a:p>
        </p:txBody>
      </p:sp>
    </p:spTree>
    <p:extLst>
      <p:ext uri="{BB962C8B-B14F-4D97-AF65-F5344CB8AC3E}">
        <p14:creationId xmlns:p14="http://schemas.microsoft.com/office/powerpoint/2010/main" val="1962107127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5DBB5D-C038-4356-B3EF-0B06F931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4A7A6-FF48-451B-855B-70FD7E9E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A3ADD-4788-4FBF-895B-5E61E7C3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87FAA-E3E9-4BD9-93E3-B3A39C61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446C4-8698-4B83-B071-BA8DD9A5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3477B-3B9E-4E5C-9963-CDD3967E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F3620-9EF6-494E-9137-37E81652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61CB6-E001-4870-8989-11CAFF4F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24299-35B1-4BED-A17A-76DF1A87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34F4F-8415-4003-979E-14DA5310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0CB28-C4DF-4EAC-A4D6-3EE1C7EF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20B9A-68C8-4E6A-A6DA-37DB0F70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3F7BB-1061-4BC3-BCED-A4CF3153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377FA-1753-4EBA-9932-304B5E43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3C854-A1C6-4A40-A562-38416AEA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E86DF-7D3A-4392-9C51-10BE9AA8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3E7EF-764C-4EC7-B10D-77967335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10928-4971-4E44-900F-60D5F038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BAD33-6B35-44FE-A7D3-164C2436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06426-F19E-40FE-A310-E982E75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634DB-5C33-439C-B449-41DBD0F9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B39E1-8023-4120-B444-579E3183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A9EA1-6C55-464A-8814-94AB482C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A72450-1699-41B0-8A04-3A57E1A7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A7742-F236-455C-A381-B188634E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PHILOSOPHY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65B8F-09E9-4249-98DA-1489436B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大模型缺的不是聪明，而是规矩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D0B99-6145-439B-8551-C98EE1ED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BD7AE-5975-458F-A432-850AB75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2912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8F8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32969F-8885-4C45-8AD3-08199AAC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0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8F8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9D687E-52A3-43A4-B7CD-8BE3A7A5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714625" y="2895600"/>
            <a:ext cx="2381250" cy="142875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7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55F1AA-0FE0-4A83-81EB-3867F90E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124700" y="2609850"/>
            <a:ext cx="2857500" cy="169545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>
                <a:alpha val="9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CED11D-0A99-4CCF-B169-13107DBA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A1A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8A1AA"/>
                </a:solidFill>
                <a:latin typeface="Microsoft YaHei UI"/>
                <a:ea typeface="Microsoft YaHei UI"/>
                <a:cs typeface="Microsoft YaHei UI"/>
              </a:rPr>
              <a:t>LLM 直觉生成</a:t>
            </a:r>
          </a:p>
          <a:p xmlns:a="http://schemas.openxmlformats.org/drawingml/2006/main">
            <a:pPr algn="ctr">
              <a:defRPr sz="1500" b="1">
                <a:solidFill>
                  <a:srgbClr val="F8A1A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8A1AA"/>
                </a:solidFill>
                <a:latin typeface="Microsoft YaHei UI"/>
                <a:ea typeface="Microsoft YaHei UI"/>
                <a:cs typeface="Microsoft YaHei UI"/>
              </a:rPr>
              <a:t>无序、随机、难复现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45C923-3480-4C60-8F3B-EBF30722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Superpowers 工程规范</a:t>
            </a:r>
          </a:p>
          <a:p xmlns:a="http://schemas.openxmlformats.org/drawingml/2006/main">
            <a:pPr algn="ctr">
              <a:defRPr sz="15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稳定、可验证、可复用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D38D35-ACDD-4749-A355-16D698D5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2857500" cy="723900"/>
          </a:xfrm>
          <a:prstGeom xmlns:a="http://schemas.openxmlformats.org/drawingml/2006/main" prst="roundRect">
            <a:avLst>
              <a:gd name="adj" fmla="val 28947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401E32-6B44-40AD-8D42-B7506762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67400"/>
            <a:ext cx="666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F2A2"/>
          </a:solidFill>
          <a:ln xmlns:a="http://schemas.openxmlformats.org/drawingml/2006/main" w="0">
            <a:solidFill>
              <a:srgbClr val="36F2A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C2CC75-552D-4169-959A-4A14B1E8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483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规范重于智商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C0EC3E-3994-4DB2-A970-D12C2066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248400"/>
            <a:ext cx="21717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真正稀缺的是长期稳定的工作方法。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C465F3-77F5-44A9-9D92-C6373A74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2857500" cy="723900"/>
          </a:xfrm>
          <a:prstGeom xmlns:a="http://schemas.openxmlformats.org/drawingml/2006/main" prst="roundRect">
            <a:avLst>
              <a:gd name="adj" fmla="val 28947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8EEC7F-5E9E-4E06-A9F8-88E65AA5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67400"/>
            <a:ext cx="666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4FF"/>
          </a:solidFill>
          <a:ln xmlns:a="http://schemas.openxmlformats.org/drawingml/2006/main" w="0">
            <a:solidFill>
              <a:srgbClr val="2BB4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CDDD13-4AD9-48D8-B80C-5D4092CB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483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最佳实践硬编码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F4A264-CC42-41BD-BA2F-E725E404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48400"/>
            <a:ext cx="21717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把架构师的质量意识固化进 Agent 行为。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6DC6E5-DB95-436B-B411-F2A4C240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19750"/>
            <a:ext cx="2857500" cy="723900"/>
          </a:xfrm>
          <a:prstGeom xmlns:a="http://schemas.openxmlformats.org/drawingml/2006/main" prst="roundRect">
            <a:avLst>
              <a:gd name="adj" fmla="val 28947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AB7076-05A2-4D1E-BD87-669FFA93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867400"/>
            <a:ext cx="666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5B6A68-5D43-4975-A63A-56B9B42C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483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从提示词到工程流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BFC560-5AB2-4AAB-A48F-6E085B02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248400"/>
            <a:ext cx="21717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不再只写 prompt，而是建立 Software Engineering Workflow。</a:t>
            </a:r>
          </a:p>
        </p:txBody>
      </p:sp>
    </p:spTree>
    <p:extLst>
      <p:ext uri="{BB962C8B-B14F-4D97-AF65-F5344CB8AC3E}">
        <p14:creationId xmlns:p14="http://schemas.microsoft.com/office/powerpoint/2010/main" val="111377056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5F3740-79AA-4865-81A7-74620EE6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354BB-7A65-4BF1-B8F4-F3A6ED19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9FDC9-1349-4F23-A21C-3E0BAC36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F6D72-F6CF-4B35-9ECF-26E26E50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9D100-E23C-4BC6-803D-96923562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CB3E0-B460-4AEC-91CB-772D6CF0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13A37-8876-486D-A314-A3C45A72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3BBD2-E8B1-4CF2-94CE-82C285DA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DBFFB-DDC2-4BCF-81C5-B920520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D6205-91CD-41C8-8F20-4A1EA3D1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61364-594F-417A-A3CE-9A2D3CE8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CBCB7-2225-46DE-A9D4-2CB43651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5A0AB-108F-43B2-BC85-824E1E16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2FE56-78E3-4F40-A275-337E03FB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0EB3C-74A8-4197-88D8-47A8A028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D40D6-3666-450A-A853-DFA1C757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A49FBB-FED3-4E41-8B32-6780A878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DCB1B-49BD-49C4-B666-CF05E03F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41515-1712-41FB-AB3B-F4AD9DBF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2929A-978C-4838-9AE2-9CEC9317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ACF16-389E-4A39-AB51-7C597607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36256-43AF-460E-87DB-143285AE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D168E-EB5C-4C47-8089-D7A12B9A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02F44-4233-46D3-9210-4AE37800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E87D0F-7680-47A0-A752-5E883F74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BD5C6-D824-4F90-A943-4B3D48B4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四个支柱，把 AI 行为锁进工程闭环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416F36-EF4A-4579-9B51-D70726AF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B9015C-3772-4C49-B3E4-47224F04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010150" cy="1638300"/>
          </a:xfrm>
          <a:prstGeom xmlns:a="http://schemas.openxmlformats.org/drawingml/2006/main" prst="roundRect">
            <a:avLst>
              <a:gd name="adj" fmla="val 15116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1D4347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171596-8EEF-421E-BDDA-B8346642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4B4737-FE4E-478E-B5F9-54EDE98C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14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规划先行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DF28E1-447D-41DB-9C6F-9BC062EC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14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无规格，不编码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2CB85D-CED8-425F-A1BE-2D90D714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670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先确认做什么，再确定怎么做。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067032-6634-43EB-AB99-E98C125F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5010150" cy="1638300"/>
          </a:xfrm>
          <a:prstGeom xmlns:a="http://schemas.openxmlformats.org/drawingml/2006/main" prst="roundRect">
            <a:avLst>
              <a:gd name="adj" fmla="val 15116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1D4347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9AD537-1D3F-4599-AD55-86FFA1AC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336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6F997F-0F70-4446-8851-3694D992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14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测试驱动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FAED56-4FD1-448D-A244-579F8414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测试是唯一裁判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489629-3892-4FBF-9103-AF64A260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让自动化结果替代主观猜测。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6C9E1A-5906-4C4C-9CA1-641B78CE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5010150" cy="1638300"/>
          </a:xfrm>
          <a:prstGeom xmlns:a="http://schemas.openxmlformats.org/drawingml/2006/main" prst="roundRect">
            <a:avLst>
              <a:gd name="adj" fmla="val 15116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1D4347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19D0B5-9ECD-46F5-A740-567DC722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F109BF-8EC7-4758-B69C-E97D4B70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62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职责分离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5C1B2A-5547-40F2-8252-020FC2A0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阶段化单点突破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798F5A-6A4F-4505-AF3C-AA33C3A9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149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讨论、规划、执行、收尾各守边界。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E93FB6-7E64-47BC-8C26-D70CCA77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010150" cy="1638300"/>
          </a:xfrm>
          <a:prstGeom xmlns:a="http://schemas.openxmlformats.org/drawingml/2006/main" prst="roundRect">
            <a:avLst>
              <a:gd name="adj" fmla="val 15116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1D4347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CD0722-2FF5-4AD1-ACF8-E309CCFC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815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06F7FD-06C8-4CE4-8D86-7B0F3690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62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不留尾巴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9A3228-9727-48C2-9360-59CC1B66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62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清理与回归收口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EAB002-E70B-4DB7-A838-B164D31B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149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格式化、临时文件清理、全量验证。</a:t>
            </a:r>
          </a:p>
        </p:txBody>
      </p:sp>
    </p:spTree>
    <p:extLst>
      <p:ext uri="{BB962C8B-B14F-4D97-AF65-F5344CB8AC3E}">
        <p14:creationId xmlns:p14="http://schemas.microsoft.com/office/powerpoint/2010/main" val="714535735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300884-B7CF-4E4E-A10E-2CC178FB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1E84B-8D54-4E43-9BA3-4C9C4AA9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E0E14-951A-42F4-9692-225841F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61352-CCF8-4B08-A338-FA539899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6ADB8-F2E0-4126-BD29-840C549F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4F8DC-F424-433E-8E11-00054833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547F2-838D-4C91-AF26-F711A5F1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F35B0-EB2D-4291-AA32-63FE64F4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8FBE5-DEBD-4AEF-A714-0ABE1471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1F6CC-E94D-45B8-A546-7FF4BB65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7DE11-E6A1-46BB-ADC9-65721599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601B6-CD0D-4620-9C37-B3B21522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B4592-9C22-46E1-B534-39D11104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829FE-E351-4193-8DD3-B962788B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9CA54-5A19-4A90-80B6-79064732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BDA2F-DD50-4DDB-8F23-9AF3C224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10205-7F1A-4D9E-97B4-8F33AD3D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3C8A5-8331-4E0D-9FF0-16407545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62441-B13C-432C-81CB-2870D9FA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27235-4520-4F7D-8292-82F8144C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5E7C1-7377-4205-8951-4F0F4216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3E727-F2FD-4448-9CD4-013AC298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23197-A03F-49C1-B0CD-69222BC9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39D6A9-79E2-4605-9E5A-7DD05C3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3A329-8F40-40A7-B6DA-B70C2597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COMPARISON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7EF1B0-B516-467D-9050-0B3FB4C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差别不在速度，而在行为模式是否可控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BFBD9-6C26-4C8F-BD7B-00081B52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5743C-14A9-4627-91B7-B5E574DF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09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A0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A0A8"/>
                </a:solidFill>
                <a:latin typeface="Microsoft YaHei UI"/>
                <a:ea typeface="Microsoft YaHei UI"/>
                <a:cs typeface="Microsoft YaHei UI"/>
              </a:rPr>
              <a:t>传统直接使用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BC0BF-CE7B-43AE-83B1-161561AB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使用 Superpowers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FE8973-02EF-4591-B4AA-B4892CC7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809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9202A"/>
          </a:solidFill>
          <a:ln xmlns:a="http://schemas.openxmlformats.org/drawingml/2006/main" w="9525">
            <a:solidFill>
              <a:srgbClr val="1D43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02AF0D-DFEB-4095-B081-3289CE11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行动逻辑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E7FA29-8AC4-4AC4-BE2A-65E6194F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67000"/>
            <a:ext cx="3619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60B10"/>
          </a:solidFill>
          <a:ln xmlns:a="http://schemas.openxmlformats.org/drawingml/2006/main" w="9525">
            <a:solidFill>
              <a:srgbClr val="FF4D5E">
                <a:alpha val="38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AB6738-E5BB-4281-84DF-3CDA50E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rPr>
              <a:t>收到指令就改，边改边想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977631-CB9B-46EF-A4D6-3961FFBB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4381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41C"/>
          </a:solidFill>
          <a:ln xmlns:a="http://schemas.openxmlformats.org/drawingml/2006/main" w="9525">
            <a:solidFill>
              <a:srgbClr val="36F2A2">
                <a:alpha val="46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26E271-B767-404C-B80E-FB299CB0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先确认边界与步骤，谋定后动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31ECE6-29D6-4713-978F-9E75BEE8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809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9202A"/>
          </a:solidFill>
          <a:ln xmlns:a="http://schemas.openxmlformats.org/drawingml/2006/main" w="9525">
            <a:solidFill>
              <a:srgbClr val="1D43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45907F-92BB-4ECA-B76B-FBB55D9F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错误修正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B758C1-EA3A-441B-97A4-34BDF5D0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48050"/>
            <a:ext cx="3619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60B10"/>
          </a:solidFill>
          <a:ln xmlns:a="http://schemas.openxmlformats.org/drawingml/2006/main" w="9525">
            <a:solidFill>
              <a:srgbClr val="FF4D5E">
                <a:alpha val="38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303BCD-B840-4A9F-98D6-1AFFED36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62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rPr>
              <a:t>哪里报错改哪里，容易死循环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6A59DA-7000-4755-B843-485F7240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4381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41C"/>
          </a:solidFill>
          <a:ln xmlns:a="http://schemas.openxmlformats.org/drawingml/2006/main" w="9525">
            <a:solidFill>
              <a:srgbClr val="36F2A2">
                <a:alpha val="46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2C97BF-EAC1-4FEC-9CFB-4A98453B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先写复现测试，再做根因溯源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FC429E-469B-46CE-8EBC-51AB45BD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809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9202A"/>
          </a:solidFill>
          <a:ln xmlns:a="http://schemas.openxmlformats.org/drawingml/2006/main" w="9525">
            <a:solidFill>
              <a:srgbClr val="1D434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BFE3AF-0A75-43F6-9875-FAFD41A3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质量交付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E3D32C-7B7E-4CE2-8F3E-4C897380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29100"/>
            <a:ext cx="3619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60B10"/>
          </a:solidFill>
          <a:ln xmlns:a="http://schemas.openxmlformats.org/drawingml/2006/main" w="9525">
            <a:solidFill>
              <a:srgbClr val="FF4D5E">
                <a:alpha val="38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B9A6A5-54B1-46B6-B48C-062E86E4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rPr>
              <a:t>人肉盲测，交付靠运气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CDCB42-652B-4B1E-8040-DECB62D9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29100"/>
            <a:ext cx="4381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41C"/>
          </a:solidFill>
          <a:ln xmlns:a="http://schemas.openxmlformats.org/drawingml/2006/main" w="9525">
            <a:solidFill>
              <a:srgbClr val="36F2A2">
                <a:alpha val="46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B4EE10-476D-46B0-9A4A-89B184F4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必须通过内置卡点，流程锁死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228AB0-C021-47B0-BE0A-7ABEFB3B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809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9202A"/>
          </a:solidFill>
          <a:ln xmlns:a="http://schemas.openxmlformats.org/drawingml/2006/main" w="9525">
            <a:solidFill>
              <a:srgbClr val="1D434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6C2826-785C-4152-9321-D7409333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多文件管理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2FB8FA-1F61-4F7F-BB59-B8175283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3619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60B10"/>
          </a:solidFill>
          <a:ln xmlns:a="http://schemas.openxmlformats.org/drawingml/2006/main" w="9525">
            <a:solidFill>
              <a:srgbClr val="FF4D5E">
                <a:alpha val="38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26E4F8-4D9F-4ECE-93E9-EC246CD4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24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rPr>
              <a:t>顾此失彼，容易丢上下文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59D5CA-C087-463D-BF92-1E32E639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4381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41C"/>
          </a:solidFill>
          <a:ln xmlns:a="http://schemas.openxmlformats.org/drawingml/2006/main" w="9525">
            <a:solidFill>
              <a:srgbClr val="36F2A2">
                <a:alpha val="46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A1B67D-6786-40B6-B757-337FBCAF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244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阶段流转精准，保持局部聚焦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AC6C3D-14C1-4FA5-A78A-1F22D33A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0" cy="3295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F2A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424249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7D806B-C4DB-4888-90EA-64E4BD7F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D28F4-3AED-4B16-85E7-1A71201F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486F7-950D-4C1E-BB6B-DACB7F2F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82528-2EFC-492A-B618-1C5A5936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BE28C-13B8-411E-B6D8-53983081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6C720-510B-48F7-81C2-2F16379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1EE2F-0D6B-47B7-895E-90DDC99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B360C-5ADF-49D9-8300-4191634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67532-DAC2-4E77-807B-174BD83D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B61C1-43F1-45B4-A162-605C3E06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CF9F1-7524-47C2-9064-D339557E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99B7D-D4EC-4CD7-8666-0BF892BD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0856B-DB4B-4A21-869B-2EA7BE94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AFB3B-6B40-4199-917E-32206403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6A633-3DD9-4529-8A11-4EC66955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DB78E-35C0-42B3-87CA-14FA42DB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05D44-4FB0-46B1-B46A-A96D0BF2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5ABF4-E9C0-4B7D-96AD-E8B1108D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6E0CD-4B95-4A36-9961-4A06AFE5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351B5-3B78-42D3-981A-1E204AF5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D9274-0D93-4FC5-A29A-A3515F92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24025-C6FB-485E-A84D-63A270BD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9C77F-BEEC-43F5-91BF-B167D8F1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E1AD9-2FF5-44EA-B566-99C85ACC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A01CC-4DDB-4B97-B3A0-0FE89B20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CASE STUDY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78F9D-2878-4B90-BDBF-69C836AC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修复杂高危 Bug 时，流程决定事故半径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BCF055-8DCB-41E0-B278-E239249E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FB9663-FB1C-47FF-B246-D3440055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6B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FB6BE"/>
                </a:solidFill>
                <a:latin typeface="Microsoft YaHei UI"/>
                <a:ea typeface="Microsoft YaHei UI"/>
                <a:cs typeface="Microsoft YaHei UI"/>
              </a:rPr>
              <a:t>传统 AI：猜测式抢修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5897C0-30A1-4B4E-B78A-6793E6CB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Superpowers：TDD 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E97BB4-45D0-48E6-9C29-5CBDD236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080D"/>
          </a:solidFill>
          <a:ln xmlns:a="http://schemas.openxmlformats.org/drawingml/2006/main" w="19050">
            <a:solidFill>
              <a:srgbClr val="FF4D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F4EBEF-D8A6-4E17-AC88-4CDACCCF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70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读报错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5E8230-1F74-4FF0-B5CA-57B75BD4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04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080D"/>
          </a:solidFill>
          <a:ln xmlns:a="http://schemas.openxmlformats.org/drawingml/2006/main" w="19050">
            <a:solidFill>
              <a:srgbClr val="FF4D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6F192F-085C-4BF5-8277-6B52CBA4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385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猜原因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E2CDBE-5213-4DD9-AB05-77F65BD0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457200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A8FB5E-3002-4ECF-9BDF-65F89F0D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28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080D"/>
          </a:solidFill>
          <a:ln xmlns:a="http://schemas.openxmlformats.org/drawingml/2006/main" w="19050">
            <a:solidFill>
              <a:srgbClr val="FF4D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23FA1C-05CE-459B-90E1-10C3BDE6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670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改核心代码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CA8C96-7B40-4500-9839-346B953F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4572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C295BA-E995-4B59-9C8B-295731CB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080D"/>
          </a:solidFill>
          <a:ln xmlns:a="http://schemas.openxmlformats.org/drawingml/2006/main" w="19050">
            <a:solidFill>
              <a:srgbClr val="FF4D5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8FB803-10BE-4F43-8262-4B66646F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385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连锁崩塌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7DC7E8-BCD7-4094-8013-16C27E78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62400"/>
            <a:ext cx="457200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4FBCAE-4504-4CCC-8B40-13890CD0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080D"/>
          </a:solidFill>
          <a:ln xmlns:a="http://schemas.openxmlformats.org/drawingml/2006/main" w="19050">
            <a:solidFill>
              <a:srgbClr val="FF4D5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8E69E6-DF87-4167-9C5A-AA25742E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670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人类崩溃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8016A8-BE56-4523-B80B-923FBBF9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90900"/>
            <a:ext cx="4572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4A3B14-A4AD-48E2-9125-AE78BCA0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876300" cy="9144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09251C"/>
              </a:gs>
              <a:gs pos="100000">
                <a:srgbClr val="0D3A2A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38CAAB-7794-40D8-8830-91B93B6C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DA87DD-1C69-42F2-840E-E1BBC98E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复现测试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2B26E7-4A06-4C38-A00A-226EA0A1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57550"/>
            <a:ext cx="876300" cy="9144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09251C"/>
              </a:gs>
              <a:gs pos="100000">
                <a:srgbClr val="0D3A2A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168062-1202-4708-A2A4-A71A57AA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29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Root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87B318-7D61-4A6C-99C0-151C419E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90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定位根因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6B4CEE-1B69-4F68-AD1B-D6E1F71D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823CDB-5012-465C-B559-3997EBF3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876300" cy="9144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09251C"/>
              </a:gs>
              <a:gs pos="100000">
                <a:srgbClr val="0D3A2A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E30800-C37B-41D8-B563-23B143A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Green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27FFC1-0EFF-4C26-8FB6-A266CE14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针对修复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1D1AA1-DA93-4831-A6C4-23B83490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91B24C-313C-4737-B930-5E5DFF4F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57550"/>
            <a:ext cx="876300" cy="9144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09251C"/>
              </a:gs>
              <a:gs pos="100000">
                <a:srgbClr val="0D3A2A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23B293-D2C8-42BE-ACAB-4C8736A7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29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Guard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21FF28-F398-48BD-B7AC-F238DE6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回归验证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335AE1-C283-4151-ABD3-896B3561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7E6098-6C54-464F-AA80-7EF13335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57550"/>
            <a:ext cx="876300" cy="9144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09251C"/>
              </a:gs>
              <a:gs pos="100000">
                <a:srgbClr val="0D3A2A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7E9F87-067A-46A5-9CBA-7955D34B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Clean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51CB7F-F15D-4310-8AA3-E7F9B864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90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清理现场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D35A94-B780-44DD-BB88-F7662C70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147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0556C2-5FA0-4A74-9F38-F2B0D724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8162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同样是修 Bug，左边扩大事故半径，右边缩小未知范围。</a:t>
            </a:r>
          </a:p>
        </p:txBody>
      </p:sp>
    </p:spTree>
    <p:extLst>
      <p:ext uri="{BB962C8B-B14F-4D97-AF65-F5344CB8AC3E}">
        <p14:creationId xmlns:p14="http://schemas.microsoft.com/office/powerpoint/2010/main" val="193497775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7AC306-47B5-4861-B9BA-A2B99017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89325-32F8-4A4D-9540-FE8471CF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33D88-D56F-4945-B2A0-D2067D57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B0640-28A2-4B7E-9DFD-2DC79101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B5FA2-27EC-4FEF-8BBD-1B96C0E9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632E1-AAB6-48B2-9C50-68612DBD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D0A40-3D82-44B0-8BB9-E5433CB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3D59A-D643-4942-8565-A79A4F77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83BD4-8480-41D0-B536-29E94699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6D120-8003-4FAE-A023-66A19360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18B33-3C60-4234-AA6E-2D7BD27E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C1693-9D07-4AC1-9E98-555F6135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05B70-3035-49CF-BEDF-103EF0B7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93CA3-48DA-4636-A223-5B32C57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85F47-DE86-476D-BCCE-5E2FE30C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EA242-FE82-44A4-B5A2-3B11BC20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18F93-5469-46BB-A3C4-18FC2FB8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AFEAE-7E51-490C-8DF2-954F635A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C8B8C-BD67-4CAA-9652-0CC082BC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EDA4A-302E-4374-A134-1E8A08EB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4DD026-C979-4146-9042-5D0C6F0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E1C23-4333-4857-B187-34869B15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357DA-0622-4EA1-B617-E3482B18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2AD8D-1817-45EB-9366-C1C83C6A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2F215-D084-4C91-A931-522BB6D2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AGENT SDD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0DEA1-8EA2-49E6-8B73-DA0FC52F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一次开发，被拆成四个可验证的智能体阶段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94204E-7D68-4407-9EA6-4112206F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5E10E-82D7-4135-87C7-E461F62B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2857500" cy="1066800"/>
          </a:xfrm>
          <a:prstGeom xmlns:a="http://schemas.openxmlformats.org/drawingml/2006/main" prst="roundRect">
            <a:avLst>
              <a:gd name="adj" fmla="val 21429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1CDE71-585D-4411-BCEE-5E136B3F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33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Brainstorm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2C8549-7BBC-46F7-8E21-8C4795B3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955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压榨模糊需求，找出真实意图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18EFF4-B98C-4C70-8BBD-3516784A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2857500" cy="1066800"/>
          </a:xfrm>
          <a:prstGeom xmlns:a="http://schemas.openxmlformats.org/drawingml/2006/main" prst="roundRect">
            <a:avLst>
              <a:gd name="adj" fmla="val 21429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5276BE-71D2-40C1-8D76-E00C3340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Spec &amp; 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F1B651-B51F-4085-A497-AC689441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把大任务拆成可执行原子清单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3428E1-F147-4ABC-9432-6D6757C4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29200"/>
            <a:ext cx="2857500" cy="1066800"/>
          </a:xfrm>
          <a:prstGeom xmlns:a="http://schemas.openxmlformats.org/drawingml/2006/main" prst="roundRect">
            <a:avLst>
              <a:gd name="adj" fmla="val 21429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B8F831-6DE6-47CE-8908-E88ED045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38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Implement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BA3E1B-FC66-4815-9273-3E750954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007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高专注编码与自我纠错循环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539A20-C2D7-4DF2-9BDD-72D25183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76600"/>
            <a:ext cx="2857500" cy="1066800"/>
          </a:xfrm>
          <a:prstGeom xmlns:a="http://schemas.openxmlformats.org/drawingml/2006/main" prst="roundRect">
            <a:avLst>
              <a:gd name="adj" fmla="val 21429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4005FD-70D5-4A4B-ABD8-E98C9587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Verify &amp; Cleanup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231B66-4CCF-4968-ACB2-1F29959C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上线前最后一道质检关卡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E6240E-883B-4703-A39E-75CBA7DD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67000"/>
            <a:ext cx="2362200" cy="2362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6F2A2">
                <a:alpha val="8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1D9281-3A7F-45DF-8DBB-4361F0C8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1752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模糊需求</a:t>
            </a:r>
          </a:p>
          <a:p xmlns:a="http://schemas.openxmlformats.org/drawingml/2006/main">
            <a:pPr algn="ctr"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  <a:p xmlns:a="http://schemas.openxmlformats.org/drawingml/2006/main">
            <a:pPr algn="ctr"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高标准代码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96E062-C425-4B8F-BDC7-31D86F53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833463-AE25-4872-97F3-55C0451C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-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E9C218-0896-44AD-BB9D-FC0DFAF4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53100"/>
            <a:ext cx="0" cy="-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F89D51-3113-489A-B163-E3BB37B8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481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2705639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B3745-CF55-40FB-BC24-2D70F7C5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1779E-DF27-4DB0-BA30-7FF382E5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F0B17-DE1F-4368-B756-B794827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093B8-FE3C-4F76-9C61-AC07BCF1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C7B2A-8D86-4B9D-9AC2-510DE9CB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9600F-A79F-4F03-8781-48D00940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33EAE-678F-40F9-B738-A73EA6B0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F3146-63D0-4D35-82CE-117DC192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6FC66-236D-4C1D-B5E3-AAF6D392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B3595-8C14-4828-B4DE-C7B5BAD2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A018E-FA41-40D3-8233-F68C0AF8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40AD9-E13A-4E45-AF2C-AD167C20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77621-C7AD-4B52-91E0-A596BCA8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292D8-906F-445E-BC5A-7885AE2B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827FA-E9DE-4C52-B998-304675D1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000C4-F741-4DD1-A23A-2A02D23F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97AD7-25C4-41DB-B26E-5905F0E0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FC46B-CB24-454F-98C5-4B3836E9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2B71E-9B07-46F9-910B-4BA100FF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71B70-ADC0-4AAC-9DE9-DC3B1D75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42ABD-53CE-447F-81D3-3B890B4F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6079E-846C-4AEE-9F43-5323191D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50CB0-2CB7-425C-98B9-651C4D05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BB8B9-134C-42A6-87E4-E9DD96D9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97092-AFE7-48C8-BDA0-B23859C6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ROI ANALYSIS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043C8-80B0-423E-B0D7-7E551333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前期慢一点，换来总周期大幅变短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57D29-18D7-43EE-A816-79A3A3F7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3B647-4A01-4627-A47F-7E8DFCE7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52550" y="2476500"/>
            <a:ext cx="2476500" cy="114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EEBC4"/>
          </a:solidFill>
          <a:ln xmlns:a="http://schemas.openxmlformats.org/drawingml/2006/main" w="0">
            <a:solidFill>
              <a:srgbClr val="8EEB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3ED0F-28C7-4306-90FC-6ADCD7A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3333750" cy="1809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B5960"/>
          </a:solidFill>
          <a:ln xmlns:a="http://schemas.openxmlformats.org/drawingml/2006/main" w="0">
            <a:solidFill>
              <a:srgbClr val="1B596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DA529E-50AB-4DA3-ACC4-363B625F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7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15C03-A366-4978-AA2E-6A3C357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看得见的成本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E2E9C3-808F-471B-9B55-DA63EEC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81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被省掉的返工与救火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F663A4-5B66-4564-BD56-4F219C56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2381250" cy="2152650"/>
          </a:xfrm>
          <a:prstGeom xmlns:a="http://schemas.openxmlformats.org/drawingml/2006/main" prst="roundRect">
            <a:avLst>
              <a:gd name="adj" fmla="val 12389"/>
            </a:avLst>
          </a:prstGeom>
          <a:solidFill xmlns:a="http://schemas.openxmlformats.org/drawingml/2006/main">
            <a:srgbClr val="1D1510"/>
          </a:solidFill>
          <a:ln xmlns:a="http://schemas.openxmlformats.org/drawingml/2006/main" w="9525">
            <a:solidFill>
              <a:srgbClr val="FFB84D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32CD64-1180-48CD-A896-ADDA0CDB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908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表面成本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6B7895-197A-4343-BCBB-83A4476F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290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rPr>
              <a:t>+30%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903FDD-574F-4784-9290-24A22250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529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计划、测试、验证会增加前期 Token 与等待。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379043-65B2-4CCD-AC37-EC3D948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381250" cy="2152650"/>
          </a:xfrm>
          <a:prstGeom xmlns:a="http://schemas.openxmlformats.org/drawingml/2006/main" prst="roundRect">
            <a:avLst>
              <a:gd name="adj" fmla="val 12389"/>
            </a:avLst>
          </a:prstGeom>
          <a:solidFill xmlns:a="http://schemas.openxmlformats.org/drawingml/2006/main">
            <a:srgbClr val="0A241B"/>
          </a:solidFill>
          <a:ln xmlns:a="http://schemas.openxmlformats.org/drawingml/2006/main" w="9525">
            <a:solidFill>
              <a:srgbClr val="36F2A2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EF9A37-95AF-4C4D-AEC9-5995A1C2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908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综合收益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5F530C-6619-4D54-BBB8-C6C4EEAF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290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-50%+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6EC0FF-540D-47E4-B881-859187DA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529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返工、连带 Bug、线上救火时间被提前消灭。</a:t>
            </a:r>
          </a:p>
        </p:txBody>
      </p:sp>
    </p:spTree>
    <p:extLst>
      <p:ext uri="{BB962C8B-B14F-4D97-AF65-F5344CB8AC3E}">
        <p14:creationId xmlns:p14="http://schemas.microsoft.com/office/powerpoint/2010/main" val="1082958857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579792-CCA6-49E7-877F-C901884C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037A0-6A8B-43A6-8636-05DB7284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A75E4-CB65-492F-81BD-0BB85E99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B7B52-51C9-42AE-9189-4AA87CA5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64AB9-A8F0-4E9B-BD2D-C5AE6CE0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52FA4-F447-4240-AFDB-F7AF6BB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D6065-F7E4-4D3E-96BF-941E71DD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961B9-8D37-431C-854D-3ED0B592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CC297-78BE-45DC-82C8-6F7C46C4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2AE47-B99C-4FE7-9D58-4E0672C7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68365-8CA4-4AEF-BBCE-70C7BDBC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98872-4442-4296-95E7-2A491956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055F4-234F-4AE5-BEE9-8948555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A3563-1957-45BD-B912-15856364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5AAE6-4D26-4F4F-B71D-EC8AF4E5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66059-72B9-4C33-BDA8-7FD92D95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FC13D-6B71-4E98-A810-BC7382A9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07414-083E-4AC1-B2E3-36C838BD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E16CD-0557-4FF4-B69D-67C06716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A696E-6DE3-4766-AC73-CD06BE5F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180DC-9706-446D-BC23-2A8A78D3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46222-7769-470C-8545-BDFCC468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F0311-4430-43A0-B967-FE951EDB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E62E5-51CF-45C3-B2E3-583ACEE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0B8C70-767C-41E3-BDC4-EBBABBAD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LIMITATIONS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D3BEF7-FA0F-4D62-B949-4ECD1832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不是所有任务都值得上完整流程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1223C-7FE6-436F-AA12-04753834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417AC-9A91-421E-84E5-289DE019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762500" cy="3028950"/>
          </a:xfrm>
          <a:prstGeom xmlns:a="http://schemas.openxmlformats.org/drawingml/2006/main" prst="roundRect">
            <a:avLst>
              <a:gd name="adj" fmla="val 9434"/>
            </a:avLst>
          </a:prstGeom>
          <a:gradFill xmlns:a="http://schemas.openxmlformats.org/drawingml/2006/main">
            <a:gsLst>
              <a:gs pos="0">
                <a:srgbClr val="26080E"/>
              </a:gs>
              <a:gs pos="100000">
                <a:srgbClr val="130609"/>
              </a:gs>
            </a:gsLst>
            <a:lin ang="8100000"/>
          </a:gradFill>
          <a:ln xmlns:a="http://schemas.openxmlformats.org/drawingml/2006/main" w="9525">
            <a:solidFill>
              <a:srgbClr val="FF4D5E">
                <a:alpha val="48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ACCAF-4D91-45C0-A9B1-19585CD9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4762500" cy="3028950"/>
          </a:xfrm>
          <a:prstGeom xmlns:a="http://schemas.openxmlformats.org/drawingml/2006/main" prst="roundRect">
            <a:avLst>
              <a:gd name="adj" fmla="val 9434"/>
            </a:avLst>
          </a:prstGeom>
          <a:gradFill xmlns:a="http://schemas.openxmlformats.org/drawingml/2006/main">
            <a:gsLst>
              <a:gs pos="0">
                <a:srgbClr val="082418"/>
              </a:gs>
              <a:gs pos="100000">
                <a:srgbClr val="0D3829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56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AFCD64-E5A4-4D45-A9BA-7A3C8CC0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B6B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B6BE"/>
                </a:solidFill>
                <a:latin typeface="Microsoft YaHei UI"/>
                <a:ea typeface="Microsoft YaHei UI"/>
                <a:cs typeface="Microsoft YaHei UI"/>
              </a:rPr>
              <a:t>红线区：流程可裁剪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61EB18-D9BA-432D-92CF-29160D5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绿线区：纪律要拉满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79DAFA-53A4-4378-B722-6BA895CC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不建议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F17C2D-64B6-4F70-B673-88823316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052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改变量名、几行脚本、一次性轻量任务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658F03-7CD5-4916-B49C-5EBE9986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434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原因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5EAACD-7430-4BAE-B592-9A6396F2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243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流程成本可能超过任务本身，杀鸡用牛刀。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FB53A2-87C6-44FA-9F09-553B8E6C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最适合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9AD1B5-AC49-4641-B981-E18F1425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052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旧代码重构、多文件迭代、顽固 Bug 修复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CC1C9D-BB4F-44EE-888C-45D97105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原因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767BA7-A78D-4B3D-99B7-04B8F3AE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复杂度越高，纪律带来的确定性越值钱。</a:t>
            </a:r>
          </a:p>
        </p:txBody>
      </p:sp>
    </p:spTree>
    <p:extLst>
      <p:ext uri="{BB962C8B-B14F-4D97-AF65-F5344CB8AC3E}">
        <p14:creationId xmlns:p14="http://schemas.microsoft.com/office/powerpoint/2010/main" val="593132458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42F64B-4471-4448-AC53-73456391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88FC3-C306-4B86-906B-53F99FED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F4543-7126-452E-B588-9F0B2C47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DB5D3-719D-4998-BAF2-F4BDD512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4C3D4-6334-4E10-A0FC-8F47DAC0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50C6C-85D4-46C0-8BDA-4A0D1F65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139BA-5FDB-4A15-BBC5-779C20B0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50784-1619-4482-B4F7-A3DAA510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50C01-5136-4197-AD1B-3E05D11F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2A5B4-30D3-4E8D-8F7F-633A5424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52DBB-B056-4F5D-8BC4-A47C8C1F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1E291-F49C-41C2-BDA1-A63223C6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E8053-0825-4A6B-A960-F3F2440D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6821A-1092-4831-B564-1BB37944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57D83-201A-4620-92C9-0DEACED1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75656-C40A-4164-89F0-D271B1A7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A0665-F61D-431A-8766-3BBBBCFE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E9A3B-FA22-486A-9794-0FED7317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29201-931D-4655-840D-32DBB50F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2F23D-A61E-4D28-8ECF-72F83BEA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B2A61-D41F-452A-AD8C-7B1FA159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2317E-3CB7-4D96-B5FB-60C54C85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109E2-185B-431E-8861-B5E71ECA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23453-00A6-495F-B023-E106F88F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97F500-0653-4561-96F8-AC52EE69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CONCLUSION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DD2597-6FB0-4019-8CAE-F60C421B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00584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34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让 AI 自由写代码是灾难；让它在纪律的铁轨上奔驰，才是未来。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00CE4-B58D-48FE-BB81-BDA08F89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516CA8-43B2-4960-BBE6-8D78988C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148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Superpowers 的价值，不是替你思考，而是让 AI 的思考可预期、可验证、可复用。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973D5B-A928-4E76-B67C-901F90A9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102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99609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2026-07-05T16:00:07.8190000Z</dcterms:created>
  <dcterms:modified xsi:type="dcterms:W3CDTF">2026-07-05T16:00:07.8190000Z</dcterms:modified>
</coreProperties>
</file>